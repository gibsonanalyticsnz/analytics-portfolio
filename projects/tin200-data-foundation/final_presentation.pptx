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81" r:id="rId6"/>
    <p:sldId id="282" r:id="rId7"/>
    <p:sldId id="28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60" r:id="rId22"/>
    <p:sldId id="275" r:id="rId23"/>
    <p:sldId id="276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97072-D907-9636-E9F6-096484CA81CA}" v="154" dt="2026-06-16T02:59:15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4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37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yang Yan" userId="S::xyan113@uoa.auckland.ac.nz::e554676d-39e0-4745-9f0c-b22e4f9da101" providerId="AD" clId="Web-{32697072-D907-9636-E9F6-096484CA81CA}"/>
    <pc:docChg chg="addSld delSld modSld">
      <pc:chgData name="Xinyang Yan" userId="S::xyan113@uoa.auckland.ac.nz::e554676d-39e0-4745-9f0c-b22e4f9da101" providerId="AD" clId="Web-{32697072-D907-9636-E9F6-096484CA81CA}" dt="2026-06-16T02:59:15.291" v="153" actId="20577"/>
      <pc:docMkLst>
        <pc:docMk/>
      </pc:docMkLst>
      <pc:sldChg chg="del">
        <pc:chgData name="Xinyang Yan" userId="S::xyan113@uoa.auckland.ac.nz::e554676d-39e0-4745-9f0c-b22e4f9da101" providerId="AD" clId="Web-{32697072-D907-9636-E9F6-096484CA81CA}" dt="2026-06-16T02:44:21.803" v="124"/>
        <pc:sldMkLst>
          <pc:docMk/>
          <pc:sldMk cId="0" sldId="260"/>
        </pc:sldMkLst>
      </pc:sldChg>
      <pc:sldChg chg="del">
        <pc:chgData name="Xinyang Yan" userId="S::xyan113@uoa.auckland.ac.nz::e554676d-39e0-4745-9f0c-b22e4f9da101" providerId="AD" clId="Web-{32697072-D907-9636-E9F6-096484CA81CA}" dt="2026-06-16T02:51:22.368" v="127"/>
        <pc:sldMkLst>
          <pc:docMk/>
          <pc:sldMk cId="0" sldId="261"/>
        </pc:sldMkLst>
      </pc:sldChg>
      <pc:sldChg chg="modSp">
        <pc:chgData name="Xinyang Yan" userId="S::xyan113@uoa.auckland.ac.nz::e554676d-39e0-4745-9f0c-b22e4f9da101" providerId="AD" clId="Web-{32697072-D907-9636-E9F6-096484CA81CA}" dt="2026-06-16T02:59:15.291" v="153" actId="20577"/>
        <pc:sldMkLst>
          <pc:docMk/>
          <pc:sldMk cId="0" sldId="262"/>
        </pc:sldMkLst>
        <pc:spChg chg="mod">
          <ac:chgData name="Xinyang Yan" userId="S::xyan113@uoa.auckland.ac.nz::e554676d-39e0-4745-9f0c-b22e4f9da101" providerId="AD" clId="Web-{32697072-D907-9636-E9F6-096484CA81CA}" dt="2026-06-16T02:52:40.212" v="12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Xinyang Yan" userId="S::xyan113@uoa.auckland.ac.nz::e554676d-39e0-4745-9f0c-b22e4f9da101" providerId="AD" clId="Web-{32697072-D907-9636-E9F6-096484CA81CA}" dt="2026-06-16T02:59:09.338" v="150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Xinyang Yan" userId="S::xyan113@uoa.auckland.ac.nz::e554676d-39e0-4745-9f0c-b22e4f9da101" providerId="AD" clId="Web-{32697072-D907-9636-E9F6-096484CA81CA}" dt="2026-06-16T02:59:05.744" v="148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Xinyang Yan" userId="S::xyan113@uoa.auckland.ac.nz::e554676d-39e0-4745-9f0c-b22e4f9da101" providerId="AD" clId="Web-{32697072-D907-9636-E9F6-096484CA81CA}" dt="2026-06-16T02:59:15.291" v="153" actId="20577"/>
          <ac:spMkLst>
            <pc:docMk/>
            <pc:sldMk cId="0" sldId="262"/>
            <ac:spMk id="26" creationId="{00000000-0000-0000-0000-000000000000}"/>
          </ac:spMkLst>
        </pc:spChg>
      </pc:sldChg>
      <pc:sldChg chg="modSp">
        <pc:chgData name="Xinyang Yan" userId="S::xyan113@uoa.auckland.ac.nz::e554676d-39e0-4745-9f0c-b22e4f9da101" providerId="AD" clId="Web-{32697072-D907-9636-E9F6-096484CA81CA}" dt="2026-06-16T02:58:45.213" v="141" actId="20577"/>
        <pc:sldMkLst>
          <pc:docMk/>
          <pc:sldMk cId="0" sldId="263"/>
        </pc:sldMkLst>
        <pc:spChg chg="mod">
          <ac:chgData name="Xinyang Yan" userId="S::xyan113@uoa.auckland.ac.nz::e554676d-39e0-4745-9f0c-b22e4f9da101" providerId="AD" clId="Web-{32697072-D907-9636-E9F6-096484CA81CA}" dt="2026-06-16T02:58:45.213" v="141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Xinyang Yan" userId="S::xyan113@uoa.auckland.ac.nz::e554676d-39e0-4745-9f0c-b22e4f9da101" providerId="AD" clId="Web-{32697072-D907-9636-E9F6-096484CA81CA}" dt="2026-06-16T02:58:36.401" v="136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Xinyang Yan" userId="S::xyan113@uoa.auckland.ac.nz::e554676d-39e0-4745-9f0c-b22e4f9da101" providerId="AD" clId="Web-{32697072-D907-9636-E9F6-096484CA81CA}" dt="2026-06-16T02:58:39.651" v="138" actId="20577"/>
          <ac:spMkLst>
            <pc:docMk/>
            <pc:sldMk cId="0" sldId="263"/>
            <ac:spMk id="26" creationId="{00000000-0000-0000-0000-000000000000}"/>
          </ac:spMkLst>
        </pc:spChg>
      </pc:sldChg>
      <pc:sldChg chg="addSp delSp modSp add del">
        <pc:chgData name="Xinyang Yan" userId="S::xyan113@uoa.auckland.ac.nz::e554676d-39e0-4745-9f0c-b22e4f9da101" providerId="AD" clId="Web-{32697072-D907-9636-E9F6-096484CA81CA}" dt="2026-06-16T02:43:56.319" v="123" actId="1076"/>
        <pc:sldMkLst>
          <pc:docMk/>
          <pc:sldMk cId="4051184260" sldId="281"/>
        </pc:sldMkLst>
        <pc:spChg chg="mod">
          <ac:chgData name="Xinyang Yan" userId="S::xyan113@uoa.auckland.ac.nz::e554676d-39e0-4745-9f0c-b22e4f9da101" providerId="AD" clId="Web-{32697072-D907-9636-E9F6-096484CA81CA}" dt="2026-06-16T02:37:27.052" v="49" actId="1076"/>
          <ac:spMkLst>
            <pc:docMk/>
            <pc:sldMk cId="4051184260" sldId="281"/>
            <ac:spMk id="15" creationId="{00000000-0000-0000-0000-000000000000}"/>
          </ac:spMkLst>
        </pc:spChg>
        <pc:spChg chg="mod">
          <ac:chgData name="Xinyang Yan" userId="S::xyan113@uoa.auckland.ac.nz::e554676d-39e0-4745-9f0c-b22e4f9da101" providerId="AD" clId="Web-{32697072-D907-9636-E9F6-096484CA81CA}" dt="2026-06-16T02:41:06.443" v="69" actId="20577"/>
          <ac:spMkLst>
            <pc:docMk/>
            <pc:sldMk cId="4051184260" sldId="281"/>
            <ac:spMk id="27" creationId="{00000000-0000-0000-0000-000000000000}"/>
          </ac:spMkLst>
        </pc:spChg>
        <pc:spChg chg="add mod">
          <ac:chgData name="Xinyang Yan" userId="S::xyan113@uoa.auckland.ac.nz::e554676d-39e0-4745-9f0c-b22e4f9da101" providerId="AD" clId="Web-{32697072-D907-9636-E9F6-096484CA81CA}" dt="2026-06-16T02:39:01.880" v="64" actId="1076"/>
          <ac:spMkLst>
            <pc:docMk/>
            <pc:sldMk cId="4051184260" sldId="281"/>
            <ac:spMk id="28" creationId="{D5FDB4E5-5ACE-671E-0A0C-CFA5D1F6BB03}"/>
          </ac:spMkLst>
        </pc:spChg>
        <pc:spChg chg="add mod">
          <ac:chgData name="Xinyang Yan" userId="S::xyan113@uoa.auckland.ac.nz::e554676d-39e0-4745-9f0c-b22e4f9da101" providerId="AD" clId="Web-{32697072-D907-9636-E9F6-096484CA81CA}" dt="2026-06-16T02:39:07.818" v="65" actId="1076"/>
          <ac:spMkLst>
            <pc:docMk/>
            <pc:sldMk cId="4051184260" sldId="281"/>
            <ac:spMk id="29" creationId="{7A5B9DF3-400F-DEE5-20AA-5E69DBE80AD8}"/>
          </ac:spMkLst>
        </pc:spChg>
        <pc:spChg chg="add del mod">
          <ac:chgData name="Xinyang Yan" userId="S::xyan113@uoa.auckland.ac.nz::e554676d-39e0-4745-9f0c-b22e4f9da101" providerId="AD" clId="Web-{32697072-D907-9636-E9F6-096484CA81CA}" dt="2026-06-16T02:43:40.413" v="118"/>
          <ac:spMkLst>
            <pc:docMk/>
            <pc:sldMk cId="4051184260" sldId="281"/>
            <ac:spMk id="30" creationId="{FA5AB8F2-2C97-AE62-3B7A-C1F6F58118E4}"/>
          </ac:spMkLst>
        </pc:spChg>
        <pc:spChg chg="add mod">
          <ac:chgData name="Xinyang Yan" userId="S::xyan113@uoa.auckland.ac.nz::e554676d-39e0-4745-9f0c-b22e4f9da101" providerId="AD" clId="Web-{32697072-D907-9636-E9F6-096484CA81CA}" dt="2026-06-16T02:43:56.319" v="123" actId="1076"/>
          <ac:spMkLst>
            <pc:docMk/>
            <pc:sldMk cId="4051184260" sldId="281"/>
            <ac:spMk id="31" creationId="{05A392B9-03A0-BA1A-C9B3-163645C86664}"/>
          </ac:spMkLst>
        </pc:spChg>
      </pc:sldChg>
      <pc:sldChg chg="add">
        <pc:chgData name="Xinyang Yan" userId="S::xyan113@uoa.auckland.ac.nz::e554676d-39e0-4745-9f0c-b22e4f9da101" providerId="AD" clId="Web-{32697072-D907-9636-E9F6-096484CA81CA}" dt="2026-06-16T02:50:42.024" v="125"/>
        <pc:sldMkLst>
          <pc:docMk/>
          <pc:sldMk cId="3843890465" sldId="282"/>
        </pc:sldMkLst>
      </pc:sldChg>
      <pc:sldChg chg="modSp add">
        <pc:chgData name="Xinyang Yan" userId="S::xyan113@uoa.auckland.ac.nz::e554676d-39e0-4745-9f0c-b22e4f9da101" providerId="AD" clId="Web-{32697072-D907-9636-E9F6-096484CA81CA}" dt="2026-06-16T02:56:53.635" v="132" actId="20577"/>
        <pc:sldMkLst>
          <pc:docMk/>
          <pc:sldMk cId="2255097873" sldId="283"/>
        </pc:sldMkLst>
        <pc:spChg chg="mod">
          <ac:chgData name="Xinyang Yan" userId="S::xyan113@uoa.auckland.ac.nz::e554676d-39e0-4745-9f0c-b22e4f9da101" providerId="AD" clId="Web-{32697072-D907-9636-E9F6-096484CA81CA}" dt="2026-06-16T02:56:53.635" v="132" actId="20577"/>
          <ac:spMkLst>
            <pc:docMk/>
            <pc:sldMk cId="2255097873" sldId="283"/>
            <ac:spMk id="12" creationId="{00000000-0000-0000-0000-000000000000}"/>
          </ac:spMkLst>
        </pc:spChg>
        <pc:spChg chg="mod">
          <ac:chgData name="Xinyang Yan" userId="S::xyan113@uoa.auckland.ac.nz::e554676d-39e0-4745-9f0c-b22e4f9da101" providerId="AD" clId="Web-{32697072-D907-9636-E9F6-096484CA81CA}" dt="2026-06-16T02:56:37.478" v="131" actId="20577"/>
          <ac:spMkLst>
            <pc:docMk/>
            <pc:sldMk cId="2255097873" sldId="283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745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built with editable PowerPoint shapes and connectors, not a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350" y="-1705824"/>
            <a:ext cx="5120640" cy="5120640"/>
          </a:xfrm>
          <a:prstGeom prst="ellipse">
            <a:avLst/>
          </a:prstGeom>
          <a:solidFill>
            <a:srgbClr val="1E3A63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3" name="Shape 1"/>
          <p:cNvSpPr/>
          <p:nvPr/>
        </p:nvSpPr>
        <p:spPr>
          <a:xfrm>
            <a:off x="9550750" y="-791424"/>
            <a:ext cx="3291840" cy="3291840"/>
          </a:xfrm>
          <a:prstGeom prst="ellipse">
            <a:avLst/>
          </a:prstGeom>
          <a:solidFill>
            <a:srgbClr val="0E1C38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4" name="Shape 2"/>
          <p:cNvSpPr/>
          <p:nvPr/>
        </p:nvSpPr>
        <p:spPr>
          <a:xfrm>
            <a:off x="10236550" y="-105624"/>
            <a:ext cx="1920240" cy="192024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5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   ·   TIN200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7185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TIN200 2026 — From Research to a </a:t>
            </a:r>
            <a:r>
              <a:rPr lang="en-US" sz="5400" b="1" dirty="0">
                <a:solidFill>
                  <a:srgbClr val="5BA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Client-Ready Evidence Base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384857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week-by-week account of the intern-programme research behind the 2026 TIN Report — methods, sources, findings and what they mean for publication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07065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Client 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847897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
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Investment Network (TIN), Auckland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4847897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
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Business Analytics (FinTech) · BUSINFO 71X Industry Project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0" y="4702853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
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Gibson G  ·  Leo Chung  ·  Sai Krishna  ·  Sreenath Suman  ·  Xinyang (Neal) Yan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88239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2002536"/>
            <a:ext cx="548640" cy="54864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2128723"/>
            <a:ext cx="296266" cy="2962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6596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Client context &amp; expectation</a:t>
            </a:r>
            <a:endParaRPr lang="en-US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TIN is and why data integrity is material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94360" y="2770632"/>
            <a:ext cx="548640" cy="548640"/>
          </a:xfrm>
          <a:prstGeom prst="ellipse">
            <a:avLst/>
          </a:prstGeom>
          <a:solidFill>
            <a:srgbClr val="1E3A63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" y="2896819"/>
            <a:ext cx="296266" cy="2962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73405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Objectives &amp; scope</a:t>
            </a:r>
            <a:endParaRPr lang="en-US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 — and the 2025–2026 focus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94360" y="3538728"/>
            <a:ext cx="548640" cy="54864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" y="3664915"/>
            <a:ext cx="296266" cy="2962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50215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Methodology &amp; sources</a:t>
            </a:r>
            <a:endParaRPr lang="en-US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hierarchy and how we research each task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594360" y="4306824"/>
            <a:ext cx="548640" cy="548640"/>
          </a:xfrm>
          <a:prstGeom prst="ellipse">
            <a:avLst/>
          </a:prstGeom>
          <a:solidFill>
            <a:srgbClr val="1E3A63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" y="4433011"/>
            <a:ext cx="296266" cy="2962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27024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Weekly tasks (Weeks 1–10)</a:t>
            </a:r>
            <a:endParaRPr lang="en-US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per slide: purpose, method, sources, findings, impact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594360" y="5074920"/>
            <a:ext cx="548640" cy="54864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" y="5201107"/>
            <a:ext cx="296266" cy="29626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503834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Key findings &amp; recommendations</a:t>
            </a:r>
            <a:endParaRPr lang="en-US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shows and what to do about it</a:t>
            </a:r>
            <a:endParaRPr lang="en-US" dirty="0"/>
          </a:p>
        </p:txBody>
      </p:sp>
      <p:sp>
        <p:nvSpPr>
          <p:cNvPr id="22" name="Shape 14"/>
          <p:cNvSpPr/>
          <p:nvPr/>
        </p:nvSpPr>
        <p:spPr>
          <a:xfrm>
            <a:off x="7589520" y="1156996"/>
            <a:ext cx="4023360" cy="4935894"/>
          </a:xfrm>
          <a:prstGeom prst="roundRect">
            <a:avLst>
              <a:gd name="adj" fmla="val 2273"/>
            </a:avLst>
          </a:prstGeom>
          <a:solidFill>
            <a:srgbClr val="15294D"/>
          </a:solidFill>
          <a:ln/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3" name="Text 15"/>
          <p:cNvSpPr/>
          <p:nvPr/>
        </p:nvSpPr>
        <p:spPr>
          <a:xfrm>
            <a:off x="7932420" y="149289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TIN REPORT, IN NUMBERS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7955280" y="21093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NZ$20.0b</a:t>
            </a:r>
            <a:endParaRPr lang="en-US" sz="3600" dirty="0"/>
          </a:p>
        </p:txBody>
      </p:sp>
      <p:sp>
        <p:nvSpPr>
          <p:cNvPr id="25" name="Text 17"/>
          <p:cNvSpPr/>
          <p:nvPr/>
        </p:nvSpPr>
        <p:spPr>
          <a:xfrm>
            <a:off x="7955280" y="2614345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TIN200 revenue (+9.9%)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7955280" y="3148521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NZ$15.31b</a:t>
            </a:r>
            <a:endParaRPr lang="en-US" sz="3600" dirty="0"/>
          </a:p>
        </p:txBody>
      </p:sp>
      <p:sp>
        <p:nvSpPr>
          <p:cNvPr id="27" name="Text 19"/>
          <p:cNvSpPr/>
          <p:nvPr/>
        </p:nvSpPr>
        <p:spPr>
          <a:xfrm>
            <a:off x="7955280" y="3605721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(+12.4%) — 3rd-largest earner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7955280" y="4158465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61,369</a:t>
            </a:r>
            <a:endParaRPr lang="en-US" sz="3600" dirty="0"/>
          </a:p>
        </p:txBody>
      </p:sp>
      <p:sp>
        <p:nvSpPr>
          <p:cNvPr id="29" name="Text 21"/>
          <p:cNvSpPr/>
          <p:nvPr/>
        </p:nvSpPr>
        <p:spPr>
          <a:xfrm>
            <a:off x="7955280" y="4615665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employed (+778)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7955280" y="50657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600" dirty="0"/>
          </a:p>
        </p:txBody>
      </p:sp>
      <p:sp>
        <p:nvSpPr>
          <p:cNvPr id="31" name="Text 23"/>
          <p:cNvSpPr/>
          <p:nvPr/>
        </p:nvSpPr>
        <p:spPr>
          <a:xfrm>
            <a:off x="7955280" y="5522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earning &gt;NZ$100m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955280" y="581133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2025 TIN Report (tin100.com, 7 Nov 2025); NZ Herald.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Agenda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CLIENT CONTEXT &amp; BUSINESS EXPECTATION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 turns company evidence into a national benchmark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8932" y="1984246"/>
            <a:ext cx="6556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Investment Network publishes the annual TIN Report — the definitive ranking of New Zealand's top 200 technology exporters by revenue, plus the wider innovation ecosystem. Investors, policymakers and the companies themselves rely on it being accurate.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363987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EXPECTS FROM 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3959914"/>
            <a:ext cx="6400800" cy="106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cleaner, auditable company-data foundation for the 2026 survey and ranking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application of TIN's inclusion and foreign-ownership rules, with evidence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research assets — candidates, contacts, cleantech, acquisitions, investment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context the report can stand behind, every figure sourced and dated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4297680" cy="4146524"/>
          </a:xfrm>
          <a:prstGeom prst="roundRect">
            <a:avLst>
              <a:gd name="adj" fmla="val 1915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8" name="Shape 6"/>
          <p:cNvSpPr/>
          <p:nvPr/>
        </p:nvSpPr>
        <p:spPr>
          <a:xfrm>
            <a:off x="7680960" y="1920240"/>
            <a:ext cx="566928" cy="566928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 sz="20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353" y="2050633"/>
            <a:ext cx="306141" cy="306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integrity is material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680960" y="2697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duplicate, omission or ownership error shifts sector, regional and ownership totals — and the published rank. 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report carries real weight: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0" y="3840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NZ$20.0b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68096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revenue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0" y="3840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60120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foreign-owned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4754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1,200+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680960" y="5166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surveyed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0" y="4754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yrs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601200" y="5166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tracking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10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Client context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717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PROJECT OBJECTIVE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8762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the evidence behind the rankings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4675861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5" name="Shape 3"/>
          <p:cNvSpPr/>
          <p:nvPr/>
        </p:nvSpPr>
        <p:spPr>
          <a:xfrm>
            <a:off x="868680" y="2075688"/>
            <a:ext cx="459661" cy="530352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0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61" y="2197669"/>
            <a:ext cx="248217" cy="286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84832"/>
            <a:ext cx="317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939146"/>
            <a:ext cx="420035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validate the existing TIN200; decide keep / review / remove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credible new entrants and emerging companies for the pipeline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acquisitions and ownership against TIN's conditional rule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cleantech, investment, export and contact datasets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everything into one sourced, client-ready evidence base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4715487" cy="4297680"/>
          </a:xfrm>
          <a:prstGeom prst="roundRect">
            <a:avLst>
              <a:gd name="adj" fmla="val 1915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10" name="Shape 7"/>
          <p:cNvSpPr/>
          <p:nvPr/>
        </p:nvSpPr>
        <p:spPr>
          <a:xfrm>
            <a:off x="6446520" y="2075688"/>
            <a:ext cx="459661" cy="530352"/>
          </a:xfrm>
          <a:prstGeom prst="ellipse">
            <a:avLst/>
          </a:prstGeom>
          <a:solidFill>
            <a:srgbClr val="DD6B3E"/>
          </a:solidFill>
          <a:ln/>
        </p:spPr>
        <p:txBody>
          <a:bodyPr/>
          <a:lstStyle/>
          <a:p>
            <a:endParaRPr lang="en-NZ" sz="20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501" y="2197669"/>
            <a:ext cx="248217" cy="286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84832"/>
            <a:ext cx="36455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boundaries we held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92240" y="2939146"/>
            <a:ext cx="427960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2025 (latest published report) and the 2026 cycle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years used only for economic context and trend lines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evidence supports decisions; it does not set final revenue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TIN200 eligibility stays with TIN's confidential survey &amp; ranking</a:t>
            </a:r>
            <a:endParaRPr lang="en-US" sz="1400" dirty="0"/>
          </a:p>
          <a:p>
            <a:pPr marL="177800" indent="-1778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lists (emerging, cleantech) are watchlists, not confirmed entrants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4360" y="6473952"/>
            <a:ext cx="832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10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Objectives &amp; scope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396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951" y="384048"/>
            <a:ext cx="120240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5294D"/>
                </a:solidFill>
                <a:latin typeface="Cambria" pitchFamily="18" charset="0"/>
                <a:ea typeface="Cambria" pitchFamily="18" charset="0"/>
                <a:cs typeface="Cambria" pitchFamily="18" charset="0"/>
              </a:rPr>
              <a:t>TIN 200 Company Information Research &amp; Validation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95251"/>
            <a:ext cx="11018520" cy="0"/>
          </a:xfrm>
          <a:prstGeom prst="line">
            <a:avLst/>
          </a:prstGeom>
          <a:noFill/>
          <a:ln w="13970">
            <a:solidFill>
              <a:srgbClr val="B9C2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389888" y="2999232"/>
            <a:ext cx="393192" cy="0"/>
          </a:xfrm>
          <a:prstGeom prst="line">
            <a:avLst/>
          </a:prstGeom>
          <a:noFill/>
          <a:ln w="15240">
            <a:solidFill>
              <a:srgbClr val="6F7F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3026664" y="2999232"/>
            <a:ext cx="356616" cy="0"/>
          </a:xfrm>
          <a:prstGeom prst="line">
            <a:avLst/>
          </a:prstGeom>
          <a:noFill/>
          <a:ln w="15240">
            <a:solidFill>
              <a:srgbClr val="6F7F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663440" y="2999232"/>
            <a:ext cx="365760" cy="0"/>
          </a:xfrm>
          <a:prstGeom prst="line">
            <a:avLst/>
          </a:prstGeom>
          <a:noFill/>
          <a:ln w="15240">
            <a:solidFill>
              <a:srgbClr val="6F7F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364224" y="2999232"/>
            <a:ext cx="356616" cy="0"/>
          </a:xfrm>
          <a:prstGeom prst="line">
            <a:avLst/>
          </a:prstGeom>
          <a:noFill/>
          <a:ln w="15240">
            <a:solidFill>
              <a:srgbClr val="6F7F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7982712" y="2999232"/>
            <a:ext cx="210312" cy="0"/>
          </a:xfrm>
          <a:prstGeom prst="line">
            <a:avLst/>
          </a:prstGeom>
          <a:noFill/>
          <a:ln w="15240">
            <a:solidFill>
              <a:srgbClr val="6F7F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9509760" y="2999232"/>
            <a:ext cx="493776" cy="0"/>
          </a:xfrm>
          <a:prstGeom prst="line">
            <a:avLst/>
          </a:prstGeom>
          <a:noFill/>
          <a:ln w="16510">
            <a:solidFill>
              <a:srgbClr val="2F85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1301984" y="2999232"/>
            <a:ext cx="265176" cy="0"/>
          </a:xfrm>
          <a:prstGeom prst="line">
            <a:avLst/>
          </a:prstGeom>
          <a:noFill/>
          <a:ln w="16510">
            <a:solidFill>
              <a:srgbClr val="2F85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8851392" y="3419856"/>
            <a:ext cx="0" cy="1472184"/>
          </a:xfrm>
          <a:prstGeom prst="line">
            <a:avLst/>
          </a:prstGeom>
          <a:noFill/>
          <a:ln w="15875">
            <a:solidFill>
              <a:srgbClr val="B338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8851392" y="4892040"/>
            <a:ext cx="0" cy="0"/>
          </a:xfrm>
          <a:prstGeom prst="line">
            <a:avLst/>
          </a:prstGeom>
          <a:noFill/>
          <a:ln w="15875">
            <a:solidFill>
              <a:srgbClr val="B338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4645152" y="4892040"/>
            <a:ext cx="0" cy="0"/>
          </a:xfrm>
          <a:prstGeom prst="line">
            <a:avLst/>
          </a:prstGeom>
          <a:noFill/>
          <a:ln w="15875">
            <a:solidFill>
              <a:srgbClr val="B338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4114800" y="4892040"/>
            <a:ext cx="0" cy="0"/>
          </a:xfrm>
          <a:prstGeom prst="line">
            <a:avLst/>
          </a:prstGeom>
          <a:noFill/>
          <a:ln w="15875">
            <a:solidFill>
              <a:srgbClr val="B3382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4011227" y="3510467"/>
            <a:ext cx="19236" cy="1420427"/>
          </a:xfrm>
          <a:prstGeom prst="line">
            <a:avLst/>
          </a:prstGeom>
          <a:noFill/>
          <a:ln w="15875">
            <a:solidFill>
              <a:srgbClr val="B338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9582912" y="28072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54A"/>
                </a:solidFill>
              </a:rPr>
              <a:t>YES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89136" y="384048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3382E"/>
                </a:solidFill>
              </a:rPr>
              <a:t>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2761488"/>
            <a:ext cx="786384" cy="475488"/>
          </a:xfrm>
          <a:prstGeom prst="roundRect">
            <a:avLst/>
          </a:prstGeom>
          <a:solidFill>
            <a:srgbClr val="0D2A55"/>
          </a:solidFill>
          <a:ln w="15875">
            <a:solidFill>
              <a:srgbClr val="0D2A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2670048"/>
            <a:ext cx="1243584" cy="658368"/>
          </a:xfrm>
          <a:prstGeom prst="roundRect">
            <a:avLst/>
          </a:prstGeom>
          <a:solidFill>
            <a:srgbClr val="DCE9F9"/>
          </a:solidFill>
          <a:ln w="15875">
            <a:solidFill>
              <a:srgbClr val="0D2A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OneDrive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670048"/>
            <a:ext cx="1280160" cy="658368"/>
          </a:xfrm>
          <a:prstGeom prst="roundRect">
            <a:avLst/>
          </a:prstGeom>
          <a:solidFill>
            <a:srgbClr val="DCE9F9"/>
          </a:solidFill>
          <a:ln w="15875">
            <a:solidFill>
              <a:srgbClr val="0D2A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2025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 200 list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670048"/>
            <a:ext cx="1335024" cy="658368"/>
          </a:xfrm>
          <a:prstGeom prst="roundRect">
            <a:avLst/>
          </a:prstGeom>
          <a:solidFill>
            <a:srgbClr val="DCE9F9"/>
          </a:solidFill>
          <a:ln w="15875">
            <a:solidFill>
              <a:srgbClr val="0D2A5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online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0840" y="2670048"/>
            <a:ext cx="1261872" cy="658368"/>
          </a:xfrm>
          <a:prstGeom prst="roundRect">
            <a:avLst/>
          </a:prstGeom>
          <a:solidFill>
            <a:srgbClr val="DCE9F9"/>
          </a:solidFill>
          <a:ln w="15875">
            <a:solidFill>
              <a:srgbClr val="0D2A55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IQ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21392" y="2578608"/>
            <a:ext cx="1460000" cy="841248"/>
          </a:xfrm>
          <a:prstGeom prst="flowChartDecision">
            <a:avLst/>
          </a:prstGeom>
          <a:solidFill>
            <a:srgbClr val="FFFFFF"/>
          </a:solidFill>
          <a:ln w="19050">
            <a:solidFill>
              <a:srgbClr val="B65E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03536" y="2670048"/>
            <a:ext cx="1298448" cy="658368"/>
          </a:xfrm>
          <a:prstGeom prst="roundRect">
            <a:avLst/>
          </a:prstGeom>
          <a:solidFill>
            <a:srgbClr val="E5F4EA"/>
          </a:solidFill>
          <a:ln w="15875">
            <a:solidFill>
              <a:srgbClr val="2F8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67160" y="2761488"/>
            <a:ext cx="566928" cy="475488"/>
          </a:xfrm>
          <a:prstGeom prst="roundRect">
            <a:avLst/>
          </a:prstGeom>
          <a:solidFill>
            <a:srgbClr val="2F854A"/>
          </a:solidFill>
          <a:ln w="15875">
            <a:solidFill>
              <a:srgbClr val="2F85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45152" y="4590288"/>
            <a:ext cx="3401568" cy="60350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3382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discrepancies / collect missing evidence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" y="5687568"/>
            <a:ext cx="10808208" cy="621792"/>
          </a:xfrm>
          <a:prstGeom prst="roundRect">
            <a:avLst/>
          </a:prstGeom>
          <a:solidFill>
            <a:srgbClr val="FAFAFA"/>
          </a:solidFill>
          <a:ln w="11430">
            <a:solidFill>
              <a:srgbClr val="D0D5D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logic: online and AI-assisted research collects company details first; Capital IQ is then used to validate the information before it is entered into the Excel working database.</a:t>
            </a:r>
          </a:p>
          <a:p>
            <a:pPr algn="ctr"/>
            <a:r>
              <a:rPr lang="en-US" sz="1100">
                <a:solidFill>
                  <a:srgbClr val="111827"/>
                </a:solidFill>
                <a:ea typeface="+mn-lt"/>
                <a:cs typeface="+mn-lt"/>
              </a:rPr>
              <a:t>Data validation source: S&amp;P Capital IQ Pro, S&amp;P Global Market Intelligence; company information accessed 16 June 2026.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D5FDB4E5-5ACE-671E-0A0C-CFA5D1F6BB03}"/>
              </a:ext>
            </a:extLst>
          </p:cNvPr>
          <p:cNvSpPr/>
          <p:nvPr/>
        </p:nvSpPr>
        <p:spPr>
          <a:xfrm flipV="1">
            <a:off x="4030463" y="4886505"/>
            <a:ext cx="577048" cy="0"/>
          </a:xfrm>
          <a:prstGeom prst="line">
            <a:avLst/>
          </a:prstGeom>
          <a:noFill/>
          <a:ln w="15875">
            <a:solidFill>
              <a:srgbClr val="B338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7A5B9DF3-400F-DEE5-20AA-5E69DBE80AD8}"/>
              </a:ext>
            </a:extLst>
          </p:cNvPr>
          <p:cNvSpPr/>
          <p:nvPr/>
        </p:nvSpPr>
        <p:spPr>
          <a:xfrm flipV="1">
            <a:off x="4026023" y="3510467"/>
            <a:ext cx="773837" cy="7398"/>
          </a:xfrm>
          <a:prstGeom prst="line">
            <a:avLst/>
          </a:prstGeom>
          <a:noFill/>
          <a:ln w="15875">
            <a:solidFill>
              <a:srgbClr val="B338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05A392B9-03A0-BA1A-C9B3-163645C86664}"/>
              </a:ext>
            </a:extLst>
          </p:cNvPr>
          <p:cNvSpPr/>
          <p:nvPr/>
        </p:nvSpPr>
        <p:spPr>
          <a:xfrm flipV="1">
            <a:off x="8084596" y="4902546"/>
            <a:ext cx="766051" cy="6775"/>
          </a:xfrm>
          <a:prstGeom prst="line">
            <a:avLst/>
          </a:prstGeom>
          <a:noFill/>
          <a:ln w="15875">
            <a:solidFill>
              <a:srgbClr val="B338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Footer Label"/>
          <p:cNvSpPr/>
          <p:nvPr/>
        </p:nvSpPr>
        <p:spPr>
          <a:xfrm>
            <a:off x="566928" y="6537960"/>
            <a:ext cx="400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TIN200 2026 · Group 5 · Research workflow</a:t>
            </a:r>
            <a:endParaRPr lang="en-US" sz="900" dirty="0"/>
          </a:p>
        </p:txBody>
      </p:sp>
      <p:sp>
        <p:nvSpPr>
          <p:cNvPr id="61" name="Footer Number"/>
          <p:cNvSpPr/>
          <p:nvPr/>
        </p:nvSpPr>
        <p:spPr>
          <a:xfrm>
            <a:off x="11567160" y="653796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51184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212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1–2 · BUILDING THE 2026 CANDIDATE 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2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TIN200 — Screening Approach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512064"/>
            <a:ext cx="658368" cy="658368"/>
          </a:xfrm>
          <a:prstGeom prst="ellipse">
            <a:avLst/>
          </a:prstGeom>
          <a:solidFill>
            <a:srgbClr val="122044"/>
          </a:solidFill>
          <a:ln w="12700">
            <a:solidFill>
              <a:srgbClr val="1220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1045952" y="61264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228832" y="6675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☰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which current companies should be kept, reviewed, or removed before building the 2026 list.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2688" y="3703320"/>
            <a:ext cx="0" cy="886968"/>
          </a:xfrm>
          <a:prstGeom prst="line">
            <a:avLst/>
          </a:prstGeom>
          <a:noFill/>
          <a:ln w="19050">
            <a:solidFill>
              <a:srgbClr val="AAB6C5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932688" y="4636008"/>
            <a:ext cx="0" cy="896112"/>
          </a:xfrm>
          <a:prstGeom prst="line">
            <a:avLst/>
          </a:prstGeom>
          <a:noFill/>
          <a:ln w="19050">
            <a:solidFill>
              <a:srgbClr val="AAB6C5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768096" y="3456432"/>
            <a:ext cx="329184" cy="329184"/>
          </a:xfrm>
          <a:prstGeom prst="ellipse">
            <a:avLst/>
          </a:prstGeom>
          <a:solidFill>
            <a:srgbClr val="087C95"/>
          </a:solidFill>
          <a:ln w="12700">
            <a:solidFill>
              <a:srgbClr val="087C9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768096" y="35890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61288" y="34381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5 inclusion criteria + 2 screening checks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096" y="4407408"/>
            <a:ext cx="329184" cy="329184"/>
          </a:xfrm>
          <a:prstGeom prst="ellipse">
            <a:avLst/>
          </a:prstGeom>
          <a:solidFill>
            <a:srgbClr val="122044"/>
          </a:solidFill>
          <a:ln w="12700">
            <a:solidFill>
              <a:srgbClr val="1220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777240" y="452170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" y="4389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 names and reconcile lists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8096" y="5358384"/>
            <a:ext cx="329184" cy="329184"/>
          </a:xfrm>
          <a:prstGeom prst="ellipse">
            <a:avLst/>
          </a:prstGeom>
          <a:solidFill>
            <a:srgbClr val="C74D1D"/>
          </a:solidFill>
          <a:ln w="12700">
            <a:solidFill>
              <a:srgbClr val="C74D1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768096" y="548182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61288" y="53400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ownership, acquisition, and eligibility risks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97880" y="1783080"/>
            <a:ext cx="5623560" cy="4434840"/>
          </a:xfrm>
          <a:prstGeom prst="roundRect">
            <a:avLst>
              <a:gd name="adj" fmla="val 2474"/>
            </a:avLst>
          </a:prstGeom>
          <a:solidFill>
            <a:srgbClr val="F7FAFC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199632" y="21488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9632" y="2514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was collected from public, internal, and validation sources.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236208" y="3310128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F2F8FB"/>
          </a:solidFill>
          <a:ln w="12700">
            <a:solidFill>
              <a:srgbClr val="0E93A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236208" y="33741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TIN200 Directory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45552" y="3310128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F2F8FB"/>
          </a:solidFill>
          <a:ln w="12700">
            <a:solidFill>
              <a:srgbClr val="0E93A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845552" y="33741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Companies Office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54896" y="3310128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F2F8FB"/>
          </a:solidFill>
          <a:ln w="12700">
            <a:solidFill>
              <a:srgbClr val="0E93A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9454896" y="33741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NZX / ASX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6208" y="3822192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F2F8FB"/>
          </a:solidFill>
          <a:ln w="12700">
            <a:solidFill>
              <a:srgbClr val="0E93A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6236208" y="388620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Sites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45552" y="3822192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F2F8FB"/>
          </a:solidFill>
          <a:ln w="12700">
            <a:solidFill>
              <a:srgbClr val="0E93A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7845552" y="388620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54896" y="3822192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F2F8FB"/>
          </a:solidFill>
          <a:ln w="12700">
            <a:solidFill>
              <a:srgbClr val="0E93A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9454896" y="388620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A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IQ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4983480"/>
            <a:ext cx="4800600" cy="0"/>
          </a:xfrm>
          <a:prstGeom prst="line">
            <a:avLst/>
          </a:prstGeom>
          <a:noFill/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Shape 35"/>
          <p:cNvSpPr/>
          <p:nvPr/>
        </p:nvSpPr>
        <p:spPr>
          <a:xfrm>
            <a:off x="6236208" y="5266944"/>
            <a:ext cx="411480" cy="411480"/>
          </a:xfrm>
          <a:prstGeom prst="ellipse">
            <a:avLst/>
          </a:prstGeom>
          <a:solidFill>
            <a:srgbClr val="122044"/>
          </a:solidFill>
          <a:ln w="12700">
            <a:solidFill>
              <a:srgbClr val="1220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6350508" y="5460461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39712" y="52852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39712" y="55504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starting population for the 2026 candidate list.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6928" y="65379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TIN200 2026 · Group 5 · Weeks 1–2 — TIN200 Review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11880" y="6537960"/>
            <a:ext cx="5989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validation source: S&amp;P Capital IQ Pro, S&amp;P Global Market Intelligence; company information accessed 16 June 2026.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67160" y="653796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4389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212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1–2 · CANDIDATE SCREENING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2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TIN200 Review — Key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27080" y="512064"/>
            <a:ext cx="658368" cy="658368"/>
          </a:xfrm>
          <a:prstGeom prst="ellipse">
            <a:avLst/>
          </a:prstGeom>
          <a:solidFill>
            <a:srgbClr val="122044"/>
          </a:solidFill>
          <a:ln w="12700">
            <a:solidFill>
              <a:srgbClr val="1220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1045952" y="612648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228832" y="6675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☰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3108960" cy="1389888"/>
          </a:xfrm>
          <a:prstGeom prst="roundRect">
            <a:avLst>
              <a:gd name="adj" fmla="val 7895"/>
            </a:avLst>
          </a:prstGeom>
          <a:solidFill>
            <a:srgbClr val="EAF6EE"/>
          </a:solidFill>
          <a:ln w="12700">
            <a:solidFill>
              <a:srgbClr val="B5DCC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055664" y="22721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226096" y="24367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35424" y="1874520"/>
            <a:ext cx="3108960" cy="1389888"/>
          </a:xfrm>
          <a:prstGeom prst="roundRect">
            <a:avLst>
              <a:gd name="adj" fmla="val 7895"/>
            </a:avLst>
          </a:prstGeom>
          <a:solidFill>
            <a:srgbClr val="EAF0FA"/>
          </a:solidFill>
          <a:ln w="12700">
            <a:solidFill>
              <a:srgbClr val="C7D7E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905288" y="22721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22044"/>
                </a:solidFill>
                <a:latin typeface="Georgia"/>
              </a:rPr>
              <a:t>50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075720" y="24367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385048" y="1874520"/>
            <a:ext cx="3108960" cy="1389888"/>
          </a:xfrm>
          <a:prstGeom prst="roundRect">
            <a:avLst>
              <a:gd name="adj" fmla="val 7895"/>
            </a:avLst>
          </a:prstGeom>
          <a:solidFill>
            <a:srgbClr val="FFF2E4"/>
          </a:solidFill>
          <a:ln w="12700">
            <a:solidFill>
              <a:srgbClr val="E9BE8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754912" y="22721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22044"/>
                </a:solidFill>
                <a:latin typeface="Georgia"/>
              </a:rPr>
              <a:t>5</a:t>
            </a:r>
            <a:endParaRPr lang="en-US" sz="4000" b="1" dirty="0">
              <a:solidFill>
                <a:srgbClr val="122044"/>
              </a:solidFill>
              <a:latin typeface="Georgi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25344" y="24367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13232" y="3703320"/>
            <a:ext cx="10789920" cy="0"/>
          </a:xfrm>
          <a:prstGeom prst="line">
            <a:avLst/>
          </a:prstGeom>
          <a:noFill/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85800" y="40050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" y="4462272"/>
            <a:ext cx="256032" cy="256032"/>
          </a:xfrm>
          <a:prstGeom prst="ellipse">
            <a:avLst/>
          </a:prstGeom>
          <a:solidFill>
            <a:srgbClr val="087C95"/>
          </a:solidFill>
          <a:ln w="12700">
            <a:solidFill>
              <a:srgbClr val="087C9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1197864" y="44439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of 200 foreign-owned retained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7864" y="47365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Kept under TIN’s conditional rule and flagged for annual review.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6384" y="5418848"/>
            <a:ext cx="256032" cy="256032"/>
          </a:xfrm>
          <a:prstGeom prst="ellipse">
            <a:avLst/>
          </a:prstGeom>
          <a:solidFill>
            <a:srgbClr val="C74D1D"/>
          </a:solidFill>
          <a:ln w="12700">
            <a:solidFill>
              <a:srgbClr val="C74D1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197864" y="547520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UBCO removed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7864" y="57678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Placed in receivership during 2025.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4462272"/>
            <a:ext cx="256032" cy="256032"/>
          </a:xfrm>
          <a:prstGeom prst="ellipse">
            <a:avLst/>
          </a:prstGeom>
          <a:solidFill>
            <a:srgbClr val="122044"/>
          </a:solidFill>
          <a:ln w="12700">
            <a:solidFill>
              <a:srgbClr val="1220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6583680" y="44439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sponsor suggestions reconciled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47365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already in · 1 emerging-only · 17 net-new.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523036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7FAFC"/>
          </a:solidFill>
          <a:ln w="12700">
            <a:solidFill>
              <a:srgbClr val="D6E0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6794738" y="5282621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on deliverable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94738" y="5617407"/>
            <a:ext cx="44340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the auditable base for the 2026 survey and TIN200 Review tab.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36792" y="5522976"/>
            <a:ext cx="301752" cy="301752"/>
          </a:xfrm>
          <a:prstGeom prst="ellipse">
            <a:avLst/>
          </a:prstGeom>
          <a:solidFill>
            <a:srgbClr val="122044"/>
          </a:solidFill>
          <a:ln w="12700">
            <a:solidFill>
              <a:srgbClr val="12204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6391656" y="55824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5379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TIN200 2026 · Group 5 · Weeks 1–2 — TIN200 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11880" y="6537960"/>
            <a:ext cx="5989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validation source: S&amp;P Capital IQ Pro, S&amp;P Global Market Intelligence; company information accessed 16 June 2026.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67160" y="653796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5509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SHORTLISTS, SPEAKERS &amp; DIRECTORY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Early-Stage &amp; Maverick shortlists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0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7" name="Text 4"/>
          <p:cNvSpPr/>
          <p:nvPr/>
        </p:nvSpPr>
        <p:spPr>
          <a:xfrm>
            <a:off x="914400" y="1752659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Build the Early-Stage (BNZ Top 10) and Maverick shortlists; identify launch speakers; refresh the directory (sub-tasks).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3029653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3303973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Early-stage screen: NZ-founded, own IP, early traction, strong growth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Maverick screen: established, high-profile, scale + global reach (Windcave-calibre)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Sub-tasks: shortlist launch speakers; update names,  websites, strong growth descriptions</a:t>
            </a:r>
          </a:p>
        </p:txBody>
      </p:sp>
      <p:sp>
        <p:nvSpPr>
          <p:cNvPr id="11" name="Text 8"/>
          <p:cNvSpPr/>
          <p:nvPr/>
        </p:nvSpPr>
        <p:spPr>
          <a:xfrm>
            <a:off x="914400" y="490790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522794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3" name="Text 10"/>
          <p:cNvSpPr/>
          <p:nvPr/>
        </p:nvSpPr>
        <p:spPr>
          <a:xfrm>
            <a:off x="914400" y="5218613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NZGCP YCF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522794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5" name="Text 12"/>
          <p:cNvSpPr/>
          <p:nvPr/>
        </p:nvSpPr>
        <p:spPr>
          <a:xfrm>
            <a:off x="2551176" y="5218613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522794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7" name="Text 14"/>
          <p:cNvSpPr/>
          <p:nvPr/>
        </p:nvSpPr>
        <p:spPr>
          <a:xfrm>
            <a:off x="4187952" y="5218613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sites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563027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9" name="Text 16"/>
          <p:cNvSpPr/>
          <p:nvPr/>
        </p:nvSpPr>
        <p:spPr>
          <a:xfrm>
            <a:off x="914400" y="562094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51176" y="563027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21" name="Text 18"/>
          <p:cNvSpPr/>
          <p:nvPr/>
        </p:nvSpPr>
        <p:spPr>
          <a:xfrm>
            <a:off x="2551176" y="562094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87952" y="563027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23" name="Text 20"/>
          <p:cNvSpPr/>
          <p:nvPr/>
        </p:nvSpPr>
        <p:spPr>
          <a:xfrm>
            <a:off x="4187952" y="562094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25" name="Text 22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F8E9E"/>
                </a:solidFill>
                <a:latin typeface="Calibri"/>
                <a:ea typeface="Calibri"/>
                <a:cs typeface="Calibri"/>
              </a:rPr>
              <a:t>▪  </a:t>
            </a:r>
            <a:r>
              <a:rPr lang="en-US" b="1" dirty="0">
                <a:solidFill>
                  <a:srgbClr val="15294D"/>
                </a:solidFill>
                <a:latin typeface="Calibri"/>
                <a:ea typeface="Calibri"/>
                <a:cs typeface="Calibri"/>
              </a:rPr>
              <a:t>Early-stage shortlist </a:t>
            </a:r>
            <a:r>
              <a:rPr lang="en-US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of NZ-founded firms with their own IP and early traction.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50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/>
                <a:ea typeface="Calibri"/>
                <a:cs typeface="Calibri"/>
              </a:rPr>
              <a:t>▪  </a:t>
            </a:r>
            <a:r>
              <a:rPr lang="en-US" b="1" dirty="0">
                <a:solidFill>
                  <a:srgbClr val="15294D"/>
                </a:solidFill>
                <a:latin typeface="Calibri"/>
                <a:ea typeface="Calibri"/>
                <a:cs typeface="Calibri"/>
              </a:rPr>
              <a:t>Maverick candidates surfaced: </a:t>
            </a:r>
            <a:r>
              <a:rPr lang="en-US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Rocket Lab, Halter, Dawn Aerospace and peers.  </a:t>
            </a:r>
            <a:r>
              <a:rPr lang="en-US" sz="1400" i="1" dirty="0">
                <a:solidFill>
                  <a:srgbClr val="5E6A78"/>
                </a:solidFill>
                <a:latin typeface="Calibri"/>
                <a:ea typeface="Calibri"/>
                <a:cs typeface="Calibri"/>
              </a:rPr>
              <a:t>(company sites; NBR, 2025)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50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/>
                <a:ea typeface="Calibri"/>
                <a:cs typeface="Calibri"/>
              </a:rPr>
              <a:t>▪  </a:t>
            </a:r>
            <a:r>
              <a:rPr lang="en-US" b="1" dirty="0">
                <a:solidFill>
                  <a:srgbClr val="15294D"/>
                </a:solidFill>
                <a:latin typeface="Calibri"/>
                <a:ea typeface="Calibri"/>
                <a:cs typeface="Calibri"/>
              </a:rPr>
              <a:t>Launch speakers identified </a:t>
            </a:r>
            <a:r>
              <a:rPr lang="en-US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including an Andrew Forrest (Fortescue) invitation track. </a:t>
            </a:r>
            <a:r>
              <a:rPr lang="en-US" sz="20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dirty="0">
                <a:solidFill>
                  <a:srgbClr val="5E6A78"/>
                </a:solidFill>
                <a:latin typeface="Calibri"/>
                <a:ea typeface="Calibri"/>
                <a:cs typeface="Calibri"/>
              </a:rPr>
              <a:t>(LinkedIn; company profiles)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28" name="Shape 25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 sz="200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1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Emerging and Maverick report sections and the launch-event plan.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10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3 — Early-Stage &amp; Maverick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CLEANTECH · INVESTMENT · EXPORT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Cleantech directory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2E7D44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Build a NZ cleantech directory and merge it with last year's list (2025 report, p.32).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" y="2997028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 Categorize companies across 11 cleantech segments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Enrich each with CEO / senior lead and a verified contact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 Re-Categorize, description, stage, and HQ location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4814035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5106643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914400" y="5106645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5106643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5106645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5106643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4187952" y="5106645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5508979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6"/>
          <p:cNvSpPr/>
          <p:nvPr/>
        </p:nvSpPr>
        <p:spPr>
          <a:xfrm>
            <a:off x="914400" y="5508981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NZGCP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51176" y="5508979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2551176" y="5508981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Ake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87952" y="5508979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Text 20"/>
          <p:cNvSpPr/>
          <p:nvPr/>
        </p:nvSpPr>
        <p:spPr>
          <a:xfrm>
            <a:off x="4187952" y="5508981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5" name="Text 22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/>
                <a:ea typeface="Calibri"/>
                <a:cs typeface="Calibri"/>
              </a:rPr>
              <a:t>▪  </a:t>
            </a:r>
            <a:r>
              <a:rPr lang="en-US" b="1" dirty="0">
                <a:solidFill>
                  <a:srgbClr val="15294D"/>
                </a:solidFill>
                <a:latin typeface="Calibri"/>
                <a:ea typeface="Calibri"/>
                <a:cs typeface="Calibri"/>
              </a:rPr>
              <a:t>111 cleantech companies </a:t>
            </a:r>
            <a:r>
              <a:rPr lang="en-US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consolidated and CEO-enriched across the taxonomy.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50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/>
                <a:ea typeface="Calibri"/>
                <a:cs typeface="Calibri"/>
              </a:rPr>
              <a:t>▪  </a:t>
            </a:r>
            <a:r>
              <a:rPr lang="en-US" b="1" dirty="0">
                <a:solidFill>
                  <a:srgbClr val="15294D"/>
                </a:solidFill>
                <a:latin typeface="Calibri"/>
                <a:ea typeface="Calibri"/>
                <a:cs typeface="Calibri"/>
              </a:rPr>
              <a:t>Largest segments: </a:t>
            </a:r>
            <a:r>
              <a:rPr lang="en-US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waste &amp; recycling (16), climate software (16), sustainable agriculture (14).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50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/>
                <a:ea typeface="Calibri"/>
                <a:cs typeface="Calibri"/>
              </a:rPr>
              <a:t>▪  </a:t>
            </a:r>
            <a:r>
              <a:rPr lang="en-US" b="1" dirty="0">
                <a:solidFill>
                  <a:srgbClr val="15294D"/>
                </a:solidFill>
                <a:latin typeface="Calibri"/>
                <a:ea typeface="Calibri"/>
                <a:cs typeface="Calibri"/>
              </a:rPr>
              <a:t>Examples: </a:t>
            </a:r>
            <a:r>
              <a:rPr lang="en-US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Mint Innovation, CarbonScape, Fabrum — export-capable cleantech.</a:t>
            </a:r>
            <a:r>
              <a:rPr lang="en-US" sz="2000" dirty="0">
                <a:solidFill>
                  <a:srgbClr val="1B2735"/>
                </a:solidFill>
                <a:latin typeface="Calibri"/>
                <a:ea typeface="Calibri"/>
                <a:cs typeface="Calibri"/>
              </a:rPr>
              <a:t> 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E6A78"/>
                </a:solidFill>
                <a:latin typeface="Calibri"/>
                <a:ea typeface="Calibri"/>
                <a:cs typeface="Calibri"/>
              </a:rPr>
              <a:t>(company sites, 2025)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8" name="Shape 25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Cleantech report section and a watchlist of future TIN200 candidates.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4 — Cleantech directory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CLEANTECH · INVESTMENT · EXPORT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Early-stage investment (NZGCP)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C49A2B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2025 early-stage investment by subsector in the report's format (p.48).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" y="315468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NZGCP Young Company Finance: capital, deals, growth by subsector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2025 vs 2024; note where category definitions changed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fastest-growing subsectors for the pipeline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888681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519061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914400" y="518128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NZGCP YCF Autumn 2025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519061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518128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NZGCP YCF Spring 2025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519061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4187952" y="518128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NZGCP YCF Autumn 2026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9" name="Text 16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F8E9E"/>
                </a:solidFill>
                <a:ea typeface="Calibri" pitchFamily="34" charset="-122"/>
                <a:cs typeface="Calibri" pitchFamily="34" charset="-120"/>
              </a:rPr>
              <a:t>▪  </a:t>
            </a:r>
            <a:r>
              <a:rPr lang="en-US" b="1" dirty="0">
                <a:solidFill>
                  <a:srgbClr val="15294D"/>
                </a:solidFill>
                <a:ea typeface="Calibri" pitchFamily="34" charset="-122"/>
                <a:cs typeface="Calibri" pitchFamily="34" charset="-120"/>
              </a:rPr>
              <a:t>NZ$754m across 166 deals in 2025 </a:t>
            </a:r>
            <a:r>
              <a:rPr lang="en-US" dirty="0">
                <a:solidFill>
                  <a:srgbClr val="1B2735"/>
                </a:solidFill>
                <a:ea typeface="Calibri" pitchFamily="34" charset="-122"/>
                <a:cs typeface="Calibri" pitchFamily="34" charset="-120"/>
              </a:rPr>
              <a:t>— capital up 61%, deals up 14% on 2024.  </a:t>
            </a:r>
            <a:r>
              <a:rPr lang="en-US" sz="1200" i="1" dirty="0">
                <a:solidFill>
                  <a:srgbClr val="5E6A78"/>
                </a:solidFill>
                <a:ea typeface="Calibri" pitchFamily="34" charset="-122"/>
                <a:cs typeface="Calibri" pitchFamily="34" charset="-120"/>
              </a:rPr>
              <a:t>(NZGCP YCF 2025)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F8E9E"/>
                </a:solidFill>
                <a:ea typeface="Calibri" pitchFamily="34" charset="-122"/>
                <a:cs typeface="Calibri" pitchFamily="34" charset="-120"/>
              </a:rPr>
              <a:t>▪  </a:t>
            </a:r>
            <a:r>
              <a:rPr lang="en-US" b="1" dirty="0">
                <a:solidFill>
                  <a:srgbClr val="15294D"/>
                </a:solidFill>
                <a:ea typeface="Calibri" pitchFamily="34" charset="-122"/>
                <a:cs typeface="Calibri" pitchFamily="34" charset="-120"/>
              </a:rPr>
              <a:t>H1 2025 was NZ$362m </a:t>
            </a:r>
            <a:r>
              <a:rPr lang="en-US" dirty="0">
                <a:solidFill>
                  <a:srgbClr val="1B2735"/>
                </a:solidFill>
                <a:ea typeface="Calibri" pitchFamily="34" charset="-122"/>
                <a:cs typeface="Calibri" pitchFamily="34" charset="-120"/>
              </a:rPr>
              <a:t>the strongest first half on record.  </a:t>
            </a:r>
            <a:r>
              <a:rPr lang="en-US" sz="1200" i="1" dirty="0">
                <a:solidFill>
                  <a:srgbClr val="5E6A78"/>
                </a:solidFill>
                <a:ea typeface="Calibri" pitchFamily="34" charset="-122"/>
                <a:cs typeface="Calibri" pitchFamily="34" charset="-120"/>
              </a:rPr>
              <a:t>(NZGCP YCF Spring 2025)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F8E9E"/>
                </a:solidFill>
                <a:ea typeface="Calibri" pitchFamily="34" charset="-122"/>
                <a:cs typeface="Calibri" pitchFamily="34" charset="-120"/>
              </a:rPr>
              <a:t>▪  </a:t>
            </a:r>
            <a:r>
              <a:rPr lang="en-US" b="1" dirty="0">
                <a:solidFill>
                  <a:srgbClr val="15294D"/>
                </a:solidFill>
                <a:ea typeface="Calibri" pitchFamily="34" charset="-122"/>
                <a:cs typeface="Calibri" pitchFamily="34" charset="-120"/>
              </a:rPr>
              <a:t>Halter </a:t>
            </a:r>
            <a:r>
              <a:rPr lang="en-US" dirty="0">
                <a:solidFill>
                  <a:srgbClr val="1B2735"/>
                </a:solidFill>
                <a:ea typeface="Calibri" pitchFamily="34" charset="-122"/>
                <a:cs typeface="Calibri" pitchFamily="34" charset="-120"/>
              </a:rPr>
              <a:t>raised a US$220m Series E in March 2026 — standout agritech round.  </a:t>
            </a:r>
            <a:r>
              <a:rPr lang="en-US" sz="1200" i="1" dirty="0">
                <a:solidFill>
                  <a:srgbClr val="5E6A78"/>
                </a:solidFill>
                <a:ea typeface="Calibri" pitchFamily="34" charset="-122"/>
                <a:cs typeface="Calibri" pitchFamily="34" charset="-120"/>
              </a:rPr>
              <a:t>(NBR; company release, Mar 2026)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Shape 19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NZGCP / early-stage section and the economic narrative.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4 — Early-stage investment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CLEANTECH · INVESTMENT · EXPORT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NZ export revenue &amp; economic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DD6B3E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2025 export revenue for key NZ sectors (p.17) for economic context.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1635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844904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official 2025 figures; record the year-to period basis for each series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Sub-tasks: summarise the CPO workforce event; recover 4 bounced TIN200 contacts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1538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914400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SOPI Jun 2025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MFAT Trade Update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4187952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NZ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491032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6"/>
          <p:cNvSpPr/>
          <p:nvPr/>
        </p:nvSpPr>
        <p:spPr>
          <a:xfrm>
            <a:off x="914400" y="491032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sites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51176" y="491032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2551176" y="491032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3" name="Text 20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519672" y="2098548"/>
            <a:ext cx="47548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NZ$27.0b (+15.9%)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export earner in 2025.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(MPI SOPI, Jun 2025)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exports NZ$15.31b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3rd, behind dairy and tourism (~NZ$16.0b).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(TIN 2025; MFAT)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replacement contacts recovered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Oritain, FrameCad, Futura Trails, Argenta.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(company sites; LinkedIn)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Shape 23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Economic-context section and the annual economic scorecard.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4 — NZ export revenue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EMERGING EXPANSION &amp; MAVERICK RESEARCH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expansion &amp; Maverick deep research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new-entrant contacts and deepen Maverick research; finalise the speaker letter (sub-task).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3054096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direct, role-relevant contacts (LinkedIn)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Maverick disruption rationale per candidate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Andrew Forrest invitation to executive standard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5994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892040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3" name="Text 10"/>
          <p:cNvSpPr/>
          <p:nvPr/>
        </p:nvSpPr>
        <p:spPr>
          <a:xfrm>
            <a:off x="914400" y="489204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4892040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489204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87952" y="4892040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4187952" y="489204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" y="529437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6"/>
          <p:cNvSpPr/>
          <p:nvPr/>
        </p:nvSpPr>
        <p:spPr>
          <a:xfrm>
            <a:off x="914400" y="529437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551176" y="529437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2551176" y="529437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Non-sponsor outreach list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3" name="Text 20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pipeline expanded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verified contacts prioritised over generic inboxes.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Maverick list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carries a documented disruption / execution story.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(company sites; NBR, 2025)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Shape 23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Emerging and Maverick sections; a ready launch invitation.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5 — Emerging &amp; Maverick research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TIN200 CONTACT RESEARCH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TIN200 contact research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" y="1581912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verified contacts for the 83 of 200 companies that had none on file.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962656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CEO / CFO / Finance roles; phone the company to find the right person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detail before adding; flag companies where only a generic inbox exists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55828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5049161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914400" y="504916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5049161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504916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504916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4187952" y="5049161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phone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5451497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9" name="Text 16"/>
          <p:cNvSpPr/>
          <p:nvPr/>
        </p:nvSpPr>
        <p:spPr>
          <a:xfrm>
            <a:off x="914400" y="5451504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2000" b="1" dirty="0">
              <a:solidFill>
                <a:srgbClr val="2F8E9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of 200 companies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 new contact — 39 of them in the TIN100.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(contact audit, 2025)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role-relevant contacts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sourced; generic-only companies clearly flagged.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1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survey reachability and response rates for the 2026 cycle.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6 — Contact research (83)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·  ACQUISITION, DIRECTORY &amp; CONTACT REVIEW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&amp; ownership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DD6B3E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acquisitions affecting TIN200 eligibility under the conditional rule.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" y="315468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announcement vs completion date; record acquirer location &amp; NZ-based?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continuity: still meets 5 criteria, not subsumed, separate financials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Sub-tasks: directory review and contact re-verification via LinkedIn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851355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5153300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914400" y="5143963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NZX / ASX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5153300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5143963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Takeovers Panel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5153300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4187952" y="5143963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Office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555563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9" name="Text 16"/>
          <p:cNvSpPr/>
          <p:nvPr/>
        </p:nvSpPr>
        <p:spPr>
          <a:xfrm>
            <a:off x="914400" y="554629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 · Reuters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551176" y="555563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21" name="Text 18"/>
          <p:cNvSpPr/>
          <p:nvPr/>
        </p:nvSpPr>
        <p:spPr>
          <a:xfrm>
            <a:off x="2551176" y="554629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87952" y="555563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Text 20"/>
          <p:cNvSpPr/>
          <p:nvPr/>
        </p:nvSpPr>
        <p:spPr>
          <a:xfrm>
            <a:off x="4187952" y="5546299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releases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5" name="Text 22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acquisitions validated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US the single largest acquirer of NZ tech.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(Takeovers Panel; releases)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acquired Melio (US$2.5bn):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Jun, completed 15 Oct 2025.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(Xero / NZX release, Oct 2025)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Endace &amp; Plexure kept NZ-eligible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Endace NZ-owned again; Plexure is the acquirer.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(company releases, 2025)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8" name="Shape 25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ownership / eligibility calls and the report's M&amp;A coverage.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7 — Acquisition validation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INTERNATIONAL, MEDIA &amp; CLEANTECH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expansion &amp; media monitoring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TIN200 expansion into India &amp; China and build a media-monitoring database.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05816" y="3008376"/>
            <a:ext cx="49737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partnerships, investments and expansion with date + source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developments: M&amp;A, launches, expansion, leadership, partnerships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5232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806570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914400" y="4815904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releases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4815904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480657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 · Reuters · NZ Herald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4815904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4187952" y="480657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5208906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9" name="Text 16"/>
          <p:cNvSpPr/>
          <p:nvPr/>
        </p:nvSpPr>
        <p:spPr>
          <a:xfrm>
            <a:off x="914400" y="521824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examples: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Xero, Serko and Datacom growing in India / China markets.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(company releases, 2025)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in-period developments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— incl. 13 launches, 11 acquisitions, 10 partnerships.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 monitoring, 2025–26)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1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International-expansion and company-activity sections.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8 — Expansion &amp; media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INTERNATIONAL, MEDIA &amp; CLEANTECH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Cleantech deep-dive &amp; global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2E7D44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010737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cleantech investment and investors, and summarise global trends (Part E).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77315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7220" y="2850726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cleantech capital raises and investor focus / typical cheque size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global renewables, EV and solar trends from official agencies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1538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3" name="Text 10"/>
          <p:cNvSpPr/>
          <p:nvPr/>
        </p:nvSpPr>
        <p:spPr>
          <a:xfrm>
            <a:off x="914400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NZGCP · Icehouse · Movac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Channel · Blackbird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87952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7" name="Text 14"/>
          <p:cNvSpPr/>
          <p:nvPr/>
        </p:nvSpPr>
        <p:spPr>
          <a:xfrm>
            <a:off x="4187952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· IRENA · Ember · MBIE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491032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9" name="Text 16"/>
          <p:cNvSpPr/>
          <p:nvPr/>
        </p:nvSpPr>
        <p:spPr>
          <a:xfrm>
            <a:off x="914400" y="491032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 · Capital IQ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Cleantech drew NZ$139m in 2024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23% of all NZ tech capital; #1 TIN secondary sector.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(TIN 2025; NZGCP)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low-emissions power hit 43%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generation; NZ electricity 96.4% renewable.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(IEA 2026; MBIE 2026)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1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Cleantech section and the economic-opportunity narrative.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8 — Cleantech &amp; global trends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 ·  OWNERSHIP, NZGCP &amp; PUBLIC COMPANIES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review &amp; public-company reporting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130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ownership of all 200 and track listed companies' latest results.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88036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foreign-owned / acquired; record listing, ticker and latest release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reporting period and next expected results date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1538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914400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Office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NZX / ASX / SEC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7" name="Text 14"/>
          <p:cNvSpPr/>
          <p:nvPr/>
        </p:nvSpPr>
        <p:spPr>
          <a:xfrm>
            <a:off x="4187952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pages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4400" y="491032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6"/>
          <p:cNvSpPr/>
          <p:nvPr/>
        </p:nvSpPr>
        <p:spPr>
          <a:xfrm>
            <a:off x="914400" y="491032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51176" y="491032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2551176" y="491032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3" name="Text 20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of 200 foreign-owned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flagged for the conditional-rule evidence check.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(Companies Office, 2025)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reporting tracked: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Xero, F&amp;P Healthcare, EROAD, Gentrack — dates &amp; next report.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(NZX/ASX investor pages, 2025)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Shape 23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and public-company sections; survey timing.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9 — Ownership &amp; public reporting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 ·  OWNERSHIP, NZGCP &amp; PUBLIC COMPANIES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Venture-backed company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14400" y="18183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1972901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venture-backed growth champions, maturity, and VC-vs-TIN200 trends.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71009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787816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maturity: Emerging / Growth / Scale-Up / Established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VC-backed vs non-VC growth, exports and capital raised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1538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3" name="Text 10"/>
          <p:cNvSpPr/>
          <p:nvPr/>
        </p:nvSpPr>
        <p:spPr>
          <a:xfrm>
            <a:off x="914400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NZGCP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2551176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 · PitchBook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87952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4"/>
          <p:cNvSpPr/>
          <p:nvPr/>
        </p:nvSpPr>
        <p:spPr>
          <a:xfrm>
            <a:off x="4187952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IQ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" y="491032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9" name="Text 16"/>
          <p:cNvSpPr/>
          <p:nvPr/>
        </p:nvSpPr>
        <p:spPr>
          <a:xfrm>
            <a:off x="914400" y="491032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data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VC-backed TIN200 grew 34.4% on average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5.2% for non-VC peers.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(Week-9 comparison dataset)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champions identified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maturity stages as future ranking anchors.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1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NZGCP / venture-backed section of the report.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9 — Venture-backed analysis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 ·  FINAL QA, CONSOLIDATION &amp; HANDOVER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QA, consolidation &amp; handover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0" y="457200"/>
            <a:ext cx="658368" cy="658368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225" y="608625"/>
            <a:ext cx="355519" cy="3555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60020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7" name="Text 4"/>
          <p:cNvSpPr/>
          <p:nvPr/>
        </p:nvSpPr>
        <p:spPr>
          <a:xfrm>
            <a:off x="914400" y="1856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200443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Quality-assure everything and consolidate it into client-ready deliverables.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76685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849146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figures, sources and naming; remove duplicate / outdated versions</a:t>
            </a:r>
            <a:endParaRPr lang="en-US" sz="16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headline numbers on the web before sign-off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1538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3" name="Text 10"/>
          <p:cNvSpPr/>
          <p:nvPr/>
        </p:nvSpPr>
        <p:spPr>
          <a:xfrm>
            <a:off x="914400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retained workbooks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51176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5" name="Text 12"/>
          <p:cNvSpPr/>
          <p:nvPr/>
        </p:nvSpPr>
        <p:spPr>
          <a:xfrm>
            <a:off x="2551176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2025 release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87952" y="4507992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7" name="Text 14"/>
          <p:cNvSpPr/>
          <p:nvPr/>
        </p:nvSpPr>
        <p:spPr>
          <a:xfrm>
            <a:off x="4187952" y="450799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/ NZX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4910328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EEF3F7"/>
          </a:solidFill>
          <a:ln w="9525">
            <a:solidFill>
              <a:srgbClr val="5BA7B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16"/>
          <p:cNvSpPr/>
          <p:nvPr/>
        </p:nvSpPr>
        <p:spPr>
          <a:xfrm>
            <a:off x="914400" y="491032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NZGCP YCF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99632" y="1600200"/>
            <a:ext cx="5394960" cy="4617720"/>
          </a:xfrm>
          <a:prstGeom prst="roundRect">
            <a:avLst>
              <a:gd name="adj" fmla="val 1782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1" name="Text 18"/>
          <p:cNvSpPr/>
          <p:nvPr/>
        </p:nvSpPr>
        <p:spPr>
          <a:xfrm>
            <a:off x="6519672" y="1856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(2025–2026)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9672" y="2167128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13-tab consolidated workbook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economic analysis + automation manual produced.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20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re-verified: </a:t>
            </a:r>
            <a:r>
              <a:rPr lang="en-US" sz="20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NZ$20.0b revenue, Xero–Melio, NZGCP NZ$754m all confirmed.  </a:t>
            </a:r>
            <a:r>
              <a:rPr lang="en-US" sz="14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(tin100.com; NZGCP, 2025)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519672" y="5074920"/>
            <a:ext cx="4754880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21"/>
          <p:cNvSpPr/>
          <p:nvPr/>
        </p:nvSpPr>
        <p:spPr>
          <a:xfrm>
            <a:off x="6519672" y="5212080"/>
            <a:ext cx="457200" cy="45720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317236"/>
            <a:ext cx="246888" cy="2468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114032" y="5166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DELIVERABLE &amp; PUBLICATION
</a:t>
            </a:r>
            <a:endParaRPr lang="en-US" sz="9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sourced evidence base TIN can use and maintain.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Week 10 — QA &amp; consolidation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RESEARCH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the evidence shows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5" name="Shape 3"/>
          <p:cNvSpPr/>
          <p:nvPr/>
        </p:nvSpPr>
        <p:spPr>
          <a:xfrm>
            <a:off x="886968" y="2057400"/>
            <a:ext cx="512064" cy="512064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2175175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2082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05256" y="274320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TIN200 is foreign-owned — 50 companies to manage under the conditional rule.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07408" y="1783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0" name="Shape 7"/>
          <p:cNvSpPr/>
          <p:nvPr/>
        </p:nvSpPr>
        <p:spPr>
          <a:xfrm>
            <a:off x="4700016" y="2057400"/>
            <a:ext cx="512064" cy="512064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791" y="2175175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202082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ICT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718304" y="274320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fastest-growing sector (~12.6% 5-yr CAGR); cleantech is the #1 secondary sector.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0456" y="1783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5" name="Shape 11"/>
          <p:cNvSpPr/>
          <p:nvPr/>
        </p:nvSpPr>
        <p:spPr>
          <a:xfrm>
            <a:off x="8513064" y="2057400"/>
            <a:ext cx="512064" cy="512064"/>
          </a:xfrm>
          <a:prstGeom prst="ellipse">
            <a:avLst/>
          </a:prstGeom>
          <a:solidFill>
            <a:srgbClr val="DD6B3E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0839" y="2175175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202082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D6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8531352" y="2743200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acquisitions validated — US buyers dominate, incl. Xero–Melio (US$2.5bn, Oct 2025).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94360" y="395020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0" name="Shape 15"/>
          <p:cNvSpPr/>
          <p:nvPr/>
        </p:nvSpPr>
        <p:spPr>
          <a:xfrm>
            <a:off x="886968" y="4224528"/>
            <a:ext cx="512064" cy="512064"/>
          </a:xfrm>
          <a:prstGeom prst="ellipse">
            <a:avLst/>
          </a:prstGeom>
          <a:solidFill>
            <a:srgbClr val="C49A2B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743" y="4342303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87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4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NZ$754m</a:t>
            </a:r>
            <a:endParaRPr lang="en-US" sz="3600" dirty="0"/>
          </a:p>
        </p:txBody>
      </p:sp>
      <p:sp>
        <p:nvSpPr>
          <p:cNvPr id="23" name="Text 17"/>
          <p:cNvSpPr/>
          <p:nvPr/>
        </p:nvSpPr>
        <p:spPr>
          <a:xfrm>
            <a:off x="905256" y="491032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early-stage investment in 2025 (+61%) — the future TIN200 pipeline.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407408" y="395020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5" name="Shape 19"/>
          <p:cNvSpPr/>
          <p:nvPr/>
        </p:nvSpPr>
        <p:spPr>
          <a:xfrm>
            <a:off x="4700016" y="4224528"/>
            <a:ext cx="512064" cy="512064"/>
          </a:xfrm>
          <a:prstGeom prst="ellipse">
            <a:avLst/>
          </a:prstGeom>
          <a:solidFill>
            <a:srgbClr val="2E7D44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791" y="4342303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4187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6.6×</a:t>
            </a:r>
            <a:endParaRPr lang="en-US" sz="3600" dirty="0"/>
          </a:p>
        </p:txBody>
      </p:sp>
      <p:sp>
        <p:nvSpPr>
          <p:cNvPr id="28" name="Text 21"/>
          <p:cNvSpPr/>
          <p:nvPr/>
        </p:nvSpPr>
        <p:spPr>
          <a:xfrm>
            <a:off x="4718304" y="491032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VC-backed members grow faster than non-VC peers (34.4% vs 5.2% average).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220456" y="3950208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30" name="Shape 23"/>
          <p:cNvSpPr/>
          <p:nvPr/>
        </p:nvSpPr>
        <p:spPr>
          <a:xfrm>
            <a:off x="8513064" y="4224528"/>
            <a:ext cx="512064" cy="512064"/>
          </a:xfrm>
          <a:prstGeom prst="ellipse">
            <a:avLst/>
          </a:prstGeom>
          <a:solidFill>
            <a:srgbClr val="1E3A63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0839" y="4342303"/>
            <a:ext cx="276515" cy="2765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0576" y="4187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3600" dirty="0"/>
          </a:p>
        </p:txBody>
      </p:sp>
      <p:sp>
        <p:nvSpPr>
          <p:cNvPr id="33" name="Text 25"/>
          <p:cNvSpPr/>
          <p:nvPr/>
        </p:nvSpPr>
        <p:spPr>
          <a:xfrm>
            <a:off x="8531352" y="4910328"/>
            <a:ext cx="3008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company variation is explained by one factor — size. Use 1–2 metrics, not six.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9436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2025 TIN Report (tin100.com); NZGCP YCF 2025; Takeovers Panel &amp; company releases; Week-9 comparison dataset; PCA of TIN200 financials.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Key findings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· EVIDENCE &amp; DATA CREDIBILITY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approached every task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task in this deck sits the same standard: each fact was rated by the strength of its source. A lower tier could surface a lead, but any consequential ownership or eligibility call required a Tier 1–2 source — and the same discovery toolkit (LinkedIn, company sites, Capital IQ and others) ran through all of it. That is what makes the evidence robust and the findings credible.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6" name="Shape 4"/>
          <p:cNvSpPr/>
          <p:nvPr/>
        </p:nvSpPr>
        <p:spPr>
          <a:xfrm>
            <a:off x="868680" y="2670048"/>
            <a:ext cx="676656" cy="676656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9164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9809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statutory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NZX · ASX · Companies Office · Overseas Investment Office · Takeovers Panel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for entity, filing &amp; ownership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02152" y="237744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3" name="Shape 11"/>
          <p:cNvSpPr/>
          <p:nvPr/>
        </p:nvSpPr>
        <p:spPr>
          <a:xfrm>
            <a:off x="3776472" y="2670048"/>
            <a:ext cx="676656" cy="676656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4" name="Text 12"/>
          <p:cNvSpPr/>
          <p:nvPr/>
        </p:nvSpPr>
        <p:spPr>
          <a:xfrm>
            <a:off x="3776472" y="26700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99432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9432" y="29809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official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76472" y="37033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 · investor pages · company releases · official websites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76472" y="5074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for products, leadership, deals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9944" y="237744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0" name="Shape 18"/>
          <p:cNvSpPr/>
          <p:nvPr/>
        </p:nvSpPr>
        <p:spPr>
          <a:xfrm>
            <a:off x="6684264" y="2670048"/>
            <a:ext cx="676656" cy="676656"/>
          </a:xfrm>
          <a:prstGeom prst="ellipse">
            <a:avLst/>
          </a:prstGeom>
          <a:solidFill>
            <a:srgbClr val="DD6B3E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21" name="Text 19"/>
          <p:cNvSpPr/>
          <p:nvPr/>
        </p:nvSpPr>
        <p:spPr>
          <a:xfrm>
            <a:off x="6684264" y="26700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507224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07224" y="29809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Credible media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84264" y="37033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RNZ · NZ Herald · NBR · Reuters · BusinessDesk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84264" y="5074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Corroboration, context &amp; discovery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17736" y="237744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7" name="Shape 25"/>
          <p:cNvSpPr/>
          <p:nvPr/>
        </p:nvSpPr>
        <p:spPr>
          <a:xfrm>
            <a:off x="9592056" y="2670048"/>
            <a:ext cx="676656" cy="676656"/>
          </a:xfrm>
          <a:prstGeom prst="ellipse">
            <a:avLst/>
          </a:prstGeom>
          <a:solidFill>
            <a:srgbClr val="C49A2B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28" name="Text 26"/>
          <p:cNvSpPr/>
          <p:nvPr/>
        </p:nvSpPr>
        <p:spPr>
          <a:xfrm>
            <a:off x="9592056" y="26700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0415016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4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15016" y="29809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triangulation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592056" y="37033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Capital IQ · PitchBook · Crunchbase · Dealroom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92056" y="5074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&amp; cross-checking only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discovery tools used across tasks:  </a:t>
            </a: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(people &amp; roles) · company websites (products &amp; leadership) · Capital IQ (financials &amp; ownership) · NZGCP (investment) · MPI/MFAT (export data).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Our approach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simple steps the client can act 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5" name="Shape 3"/>
          <p:cNvSpPr/>
          <p:nvPr/>
        </p:nvSpPr>
        <p:spPr>
          <a:xfrm>
            <a:off x="868680" y="2167128"/>
            <a:ext cx="548640" cy="54864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2293315"/>
            <a:ext cx="296266" cy="2962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master list
</a:t>
            </a:r>
            <a:endParaRPr lang="en-US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every company you consider in one list with a stable ID, so nothing is researched twice.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78308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9" name="Shape 6"/>
          <p:cNvSpPr/>
          <p:nvPr/>
        </p:nvSpPr>
        <p:spPr>
          <a:xfrm>
            <a:off x="6510528" y="2167128"/>
            <a:ext cx="548640" cy="54864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2293315"/>
            <a:ext cx="296266" cy="2962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42048" y="198424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the reason
</a:t>
            </a:r>
            <a:endParaRPr lang="en-US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each keep / review / remove, record the reason and the evidence link.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94360" y="3273552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3" name="Shape 9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" y="3783787"/>
            <a:ext cx="296266" cy="2962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4747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ownership yearly
</a:t>
            </a:r>
            <a:endParaRPr lang="en-US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each foreign-owned company once a year against the ownership rule.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236208" y="3273552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7" name="Shape 12"/>
          <p:cNvSpPr/>
          <p:nvPr/>
        </p:nvSpPr>
        <p:spPr>
          <a:xfrm>
            <a:off x="6510528" y="3657600"/>
            <a:ext cx="548640" cy="54864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715" y="3783787"/>
            <a:ext cx="296266" cy="2962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42048" y="34747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contacts first
</a:t>
            </a:r>
            <a:endParaRPr lang="en-US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survey contacts within 90 days before you send, and log what bounces.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594360" y="4764024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1" name="Shape 15"/>
          <p:cNvSpPr/>
          <p:nvPr/>
        </p:nvSpPr>
        <p:spPr>
          <a:xfrm>
            <a:off x="868680" y="5148072"/>
            <a:ext cx="548640" cy="54864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867" y="5274259"/>
            <a:ext cx="296266" cy="29626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96519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One-click, then publish
</a:t>
            </a:r>
            <a:endParaRPr lang="en-US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 to prepare the data, then refresh and publish Power BI after a quick check.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6236208" y="4764024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5" name="Shape 18"/>
          <p:cNvSpPr/>
          <p:nvPr/>
        </p:nvSpPr>
        <p:spPr>
          <a:xfrm>
            <a:off x="6510528" y="5148072"/>
            <a:ext cx="548640" cy="54864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6715" y="5274259"/>
            <a:ext cx="296266" cy="29626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42048" y="496519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yearly scorecard
</a:t>
            </a:r>
            <a:endParaRPr lang="en-US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400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economic numbers each year using only official, sourced figures.</a:t>
            </a: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Recommendations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5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now, next and later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5" name="Shape 3"/>
          <p:cNvSpPr/>
          <p:nvPr/>
        </p:nvSpPr>
        <p:spPr>
          <a:xfrm>
            <a:off x="886968" y="2075688"/>
            <a:ext cx="868680" cy="868680"/>
          </a:xfrm>
          <a:prstGeom prst="ellipse">
            <a:avLst/>
          </a:prstGeom>
          <a:solidFill>
            <a:srgbClr val="15294D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6" name="Text 4"/>
          <p:cNvSpPr/>
          <p:nvPr/>
        </p:nvSpPr>
        <p:spPr>
          <a:xfrm>
            <a:off x="886968" y="20756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74520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Jul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23544" y="31546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central candidate register (stable IDs)</a:t>
            </a:r>
            <a:endParaRPr lang="en-US" sz="140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data dictionary &amp; status model</a:t>
            </a:r>
            <a:endParaRPr lang="en-US" sz="140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reason + evidence for every screening decision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23544" y="5120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— everything else depends on these.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7408" y="178308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2" name="Shape 10"/>
          <p:cNvSpPr/>
          <p:nvPr/>
        </p:nvSpPr>
        <p:spPr>
          <a:xfrm>
            <a:off x="4700016" y="2075688"/>
            <a:ext cx="868680" cy="86868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3" name="Text 11"/>
          <p:cNvSpPr/>
          <p:nvPr/>
        </p:nvSpPr>
        <p:spPr>
          <a:xfrm>
            <a:off x="4700016" y="20756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87568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Aug 2026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87568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36592" y="31546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41 unmatched names from reconciliation</a:t>
            </a:r>
            <a:endParaRPr lang="en-US" sz="140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foreign-acquisition decision tree on all 50 firms</a:t>
            </a:r>
            <a:endParaRPr lang="en-US" sz="140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Dual-review ≥10% of candidates (target 90% agreement)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36592" y="5120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2F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quality once the foundation is live.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0456" y="178308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F6F9FB"/>
          </a:solidFill>
          <a:ln w="12700">
            <a:solidFill>
              <a:srgbClr val="D8E0E8"/>
            </a:solidFill>
            <a:prstDash val="solid"/>
          </a:ln>
          <a:effectLst>
            <a:outerShdw blurRad="114300" dist="38100" dir="5400000" algn="bl" rotWithShape="0">
              <a:srgbClr val="9FB0C0">
                <a:alpha val="2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9" name="Shape 17"/>
          <p:cNvSpPr/>
          <p:nvPr/>
        </p:nvSpPr>
        <p:spPr>
          <a:xfrm>
            <a:off x="8513064" y="2075688"/>
            <a:ext cx="868680" cy="868680"/>
          </a:xfrm>
          <a:prstGeom prst="ellipse">
            <a:avLst/>
          </a:prstGeom>
          <a:solidFill>
            <a:srgbClr val="DD6B3E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20" name="Text 18"/>
          <p:cNvSpPr/>
          <p:nvPr/>
        </p:nvSpPr>
        <p:spPr>
          <a:xfrm>
            <a:off x="8513064" y="20756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0616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 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0616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&amp; report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49640" y="31546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annual economic context scorecard</a:t>
            </a:r>
            <a:endParaRPr lang="en-US" sz="140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one-click prep + manual Power BI publish each cycle</a:t>
            </a:r>
            <a:endParaRPr lang="en-US" sz="1400" dirty="0"/>
          </a:p>
          <a:p>
            <a:pPr marL="165100" indent="-1651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 short quality scorecard every month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DD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routine and self-checking.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flows left → right. The register, dictionary and decision-reasons are the immediate focus.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52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</a:t>
            </a: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5  ·  Roadmap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3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4937760" cy="4937760"/>
          </a:xfrm>
          <a:prstGeom prst="ellipse">
            <a:avLst/>
          </a:prstGeom>
          <a:solidFill>
            <a:srgbClr val="1E3A63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9966960" y="-822960"/>
            <a:ext cx="2743200" cy="2743200"/>
          </a:xfrm>
          <a:prstGeom prst="ellipse">
            <a:avLst/>
          </a:prstGeom>
          <a:solidFill>
            <a:srgbClr val="2F8E9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cleaner evidence base — and a clear path to maintain it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TIN200 2026  ·  Capstone Group 5  ·  Prepared for Technology Investment Network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3520</Words>
  <Application>Microsoft Office PowerPoint</Application>
  <PresentationFormat>Widescreen</PresentationFormat>
  <Paragraphs>555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TIN200 2026 — Final Client Presentation</dc:title>
  <dc:subject>PptxGenJS Presentation</dc:subject>
  <dc:creator>Capstone Group 5</dc:creator>
  <cp:lastModifiedBy>Sreenath Suman</cp:lastModifiedBy>
  <cp:revision>72</cp:revision>
  <dcterms:created xsi:type="dcterms:W3CDTF">2026-06-15T21:34:50Z</dcterms:created>
  <dcterms:modified xsi:type="dcterms:W3CDTF">2026-06-16T10:14:32Z</dcterms:modified>
</cp:coreProperties>
</file>